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3" r:id="rId12"/>
    <p:sldId id="266" r:id="rId13"/>
    <p:sldId id="267" r:id="rId14"/>
    <p:sldId id="268" r:id="rId15"/>
    <p:sldId id="269" r:id="rId16"/>
    <p:sldId id="274" r:id="rId17"/>
    <p:sldId id="270" r:id="rId18"/>
    <p:sldId id="271" r:id="rId19"/>
    <p:sldId id="272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hruv Rawat" userId="70cb5568d9a1d1f8" providerId="LiveId" clId="{46A1DD8C-D54A-47E3-BD94-1D0D5A619198}"/>
    <pc:docChg chg="modSld">
      <pc:chgData name="Dhruv Rawat" userId="70cb5568d9a1d1f8" providerId="LiveId" clId="{46A1DD8C-D54A-47E3-BD94-1D0D5A619198}" dt="2026-10-09T05:10:24.170" v="35" actId="404"/>
      <pc:docMkLst>
        <pc:docMk/>
      </pc:docMkLst>
      <pc:sldChg chg="modSp mod">
        <pc:chgData name="Dhruv Rawat" userId="70cb5568d9a1d1f8" providerId="LiveId" clId="{46A1DD8C-D54A-47E3-BD94-1D0D5A619198}" dt="2026-10-09T05:10:24.170" v="35" actId="404"/>
        <pc:sldMkLst>
          <pc:docMk/>
          <pc:sldMk cId="0" sldId="256"/>
        </pc:sldMkLst>
        <pc:spChg chg="mod">
          <ac:chgData name="Dhruv Rawat" userId="70cb5568d9a1d1f8" providerId="LiveId" clId="{46A1DD8C-D54A-47E3-BD94-1D0D5A619198}" dt="2026-10-09T05:10:24.170" v="35" actId="404"/>
          <ac:spMkLst>
            <pc:docMk/>
            <pc:sldMk cId="0" sldId="256"/>
            <ac:spMk id="4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Rides</c:v>
                </c:pt>
              </c:strCache>
            </c:strRef>
          </c:tx>
          <c:dPt>
            <c:idx val="0"/>
            <c:bubble3D val="0"/>
            <c:spPr>
              <a:solidFill>
                <a:srgbClr val="0A8794"/>
              </a:solidFill>
            </c:spPr>
            <c:extLst>
              <c:ext xmlns:c16="http://schemas.microsoft.com/office/drawing/2014/chart" uri="{C3380CC4-5D6E-409C-BE32-E72D297353CC}">
                <c16:uniqueId val="{00000001-9CA3-4690-8FDD-9941F3BD5E54}"/>
              </c:ext>
            </c:extLst>
          </c:dPt>
          <c:dPt>
            <c:idx val="1"/>
            <c:bubble3D val="0"/>
            <c:spPr>
              <a:solidFill>
                <a:srgbClr val="F2A541"/>
              </a:solidFill>
            </c:spPr>
            <c:extLst>
              <c:ext xmlns:c16="http://schemas.microsoft.com/office/drawing/2014/chart" uri="{C3380CC4-5D6E-409C-BE32-E72D297353CC}">
                <c16:uniqueId val="{00000003-9CA3-4690-8FDD-9941F3BD5E54}"/>
              </c:ext>
            </c:extLst>
          </c:dPt>
          <c:cat>
            <c:strRef>
              <c:f>Sheet1!$A$2:$A$3</c:f>
              <c:strCache>
                <c:ptCount val="2"/>
                <c:pt idx="0">
                  <c:v>Registered</c:v>
                </c:pt>
                <c:pt idx="1">
                  <c:v>Casual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53383</c:v>
                </c:pt>
                <c:pt idx="1">
                  <c:v>4921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A3-4690-8FDD-9941F3BD5E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200">
          <a:solidFill>
            <a:srgbClr val="5B6B7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Rides per day</c:v>
                </c:pt>
              </c:strCache>
            </c:strRef>
          </c:tx>
          <c:spPr>
            <a:ln w="44450">
              <a:solidFill>
                <a:srgbClr val="0A8794"/>
              </a:solidFill>
            </a:ln>
          </c:spPr>
          <c:marker>
            <c:symbol val="none"/>
          </c:marker>
          <c:cat>
            <c:strRef>
              <c:f>Sheet1!$A$2:$A$45</c:f>
              <c:strCache>
                <c:ptCount val="44"/>
                <c:pt idx="0">
                  <c:v>Jan 1</c:v>
                </c:pt>
                <c:pt idx="1">
                  <c:v>Jan 2</c:v>
                </c:pt>
                <c:pt idx="2">
                  <c:v>Jan 3</c:v>
                </c:pt>
                <c:pt idx="3">
                  <c:v>Jan 4</c:v>
                </c:pt>
                <c:pt idx="4">
                  <c:v>Jan 5</c:v>
                </c:pt>
                <c:pt idx="5">
                  <c:v>Jan 6</c:v>
                </c:pt>
                <c:pt idx="6">
                  <c:v>Jan 7</c:v>
                </c:pt>
                <c:pt idx="7">
                  <c:v>Jan 8</c:v>
                </c:pt>
                <c:pt idx="8">
                  <c:v>Jan 9</c:v>
                </c:pt>
                <c:pt idx="9">
                  <c:v>Jan 10</c:v>
                </c:pt>
                <c:pt idx="10">
                  <c:v>Jan 11</c:v>
                </c:pt>
                <c:pt idx="11">
                  <c:v>Jan 12</c:v>
                </c:pt>
                <c:pt idx="12">
                  <c:v>Jan 13</c:v>
                </c:pt>
                <c:pt idx="13">
                  <c:v>Jan 14</c:v>
                </c:pt>
                <c:pt idx="14">
                  <c:v>Jan 15</c:v>
                </c:pt>
                <c:pt idx="15">
                  <c:v>Jan 16</c:v>
                </c:pt>
                <c:pt idx="16">
                  <c:v>Jan 17</c:v>
                </c:pt>
                <c:pt idx="17">
                  <c:v>Jan 18</c:v>
                </c:pt>
                <c:pt idx="18">
                  <c:v>Jan 19</c:v>
                </c:pt>
                <c:pt idx="19">
                  <c:v>Jan 20</c:v>
                </c:pt>
                <c:pt idx="20">
                  <c:v>Jan 21</c:v>
                </c:pt>
                <c:pt idx="21">
                  <c:v>Jan 22</c:v>
                </c:pt>
                <c:pt idx="22">
                  <c:v>Jan 23</c:v>
                </c:pt>
                <c:pt idx="23">
                  <c:v>Jan 24</c:v>
                </c:pt>
                <c:pt idx="24">
                  <c:v>Jan 25</c:v>
                </c:pt>
                <c:pt idx="25">
                  <c:v>Jan 26</c:v>
                </c:pt>
                <c:pt idx="26">
                  <c:v>Jan 27</c:v>
                </c:pt>
                <c:pt idx="27">
                  <c:v>Jan 28</c:v>
                </c:pt>
                <c:pt idx="28">
                  <c:v>Jan 29</c:v>
                </c:pt>
                <c:pt idx="29">
                  <c:v>Jan 30</c:v>
                </c:pt>
                <c:pt idx="30">
                  <c:v>Jan 31</c:v>
                </c:pt>
                <c:pt idx="31">
                  <c:v>Feb 1</c:v>
                </c:pt>
                <c:pt idx="32">
                  <c:v>Feb 2</c:v>
                </c:pt>
                <c:pt idx="33">
                  <c:v>Feb 3</c:v>
                </c:pt>
                <c:pt idx="34">
                  <c:v>Feb 4</c:v>
                </c:pt>
                <c:pt idx="35">
                  <c:v>Feb 5</c:v>
                </c:pt>
                <c:pt idx="36">
                  <c:v>Feb 6</c:v>
                </c:pt>
                <c:pt idx="37">
                  <c:v>Feb 7</c:v>
                </c:pt>
                <c:pt idx="38">
                  <c:v>Feb 8</c:v>
                </c:pt>
                <c:pt idx="39">
                  <c:v>Feb 9</c:v>
                </c:pt>
                <c:pt idx="40">
                  <c:v>Feb 10</c:v>
                </c:pt>
                <c:pt idx="41">
                  <c:v>Feb 11</c:v>
                </c:pt>
                <c:pt idx="42">
                  <c:v>Feb 12</c:v>
                </c:pt>
                <c:pt idx="43">
                  <c:v>Feb 13</c:v>
                </c:pt>
              </c:strCache>
            </c:strRef>
          </c:cat>
          <c:val>
            <c:numRef>
              <c:f>Sheet1!$B$2:$B$45</c:f>
              <c:numCache>
                <c:formatCode>General</c:formatCode>
                <c:ptCount val="44"/>
                <c:pt idx="0">
                  <c:v>985</c:v>
                </c:pt>
                <c:pt idx="1">
                  <c:v>801</c:v>
                </c:pt>
                <c:pt idx="2">
                  <c:v>1349</c:v>
                </c:pt>
                <c:pt idx="3">
                  <c:v>1562</c:v>
                </c:pt>
                <c:pt idx="4">
                  <c:v>1600</c:v>
                </c:pt>
                <c:pt idx="5">
                  <c:v>1606</c:v>
                </c:pt>
                <c:pt idx="6">
                  <c:v>1510</c:v>
                </c:pt>
                <c:pt idx="7">
                  <c:v>959</c:v>
                </c:pt>
                <c:pt idx="8">
                  <c:v>822</c:v>
                </c:pt>
                <c:pt idx="9">
                  <c:v>1321</c:v>
                </c:pt>
                <c:pt idx="10">
                  <c:v>1263</c:v>
                </c:pt>
                <c:pt idx="11">
                  <c:v>1162</c:v>
                </c:pt>
                <c:pt idx="12">
                  <c:v>1406</c:v>
                </c:pt>
                <c:pt idx="13">
                  <c:v>1421</c:v>
                </c:pt>
                <c:pt idx="14">
                  <c:v>1248</c:v>
                </c:pt>
                <c:pt idx="15">
                  <c:v>1204</c:v>
                </c:pt>
                <c:pt idx="16">
                  <c:v>1000</c:v>
                </c:pt>
                <c:pt idx="17">
                  <c:v>683</c:v>
                </c:pt>
                <c:pt idx="18">
                  <c:v>1650</c:v>
                </c:pt>
                <c:pt idx="19">
                  <c:v>1927</c:v>
                </c:pt>
                <c:pt idx="20">
                  <c:v>1543</c:v>
                </c:pt>
                <c:pt idx="21">
                  <c:v>981</c:v>
                </c:pt>
                <c:pt idx="22">
                  <c:v>986</c:v>
                </c:pt>
                <c:pt idx="23">
                  <c:v>1416</c:v>
                </c:pt>
                <c:pt idx="24">
                  <c:v>1985</c:v>
                </c:pt>
                <c:pt idx="25">
                  <c:v>506</c:v>
                </c:pt>
                <c:pt idx="26">
                  <c:v>431</c:v>
                </c:pt>
                <c:pt idx="27">
                  <c:v>1167</c:v>
                </c:pt>
                <c:pt idx="28">
                  <c:v>1098</c:v>
                </c:pt>
                <c:pt idx="29">
                  <c:v>1096</c:v>
                </c:pt>
                <c:pt idx="30">
                  <c:v>1501</c:v>
                </c:pt>
                <c:pt idx="31">
                  <c:v>1360</c:v>
                </c:pt>
                <c:pt idx="32">
                  <c:v>1526</c:v>
                </c:pt>
                <c:pt idx="33">
                  <c:v>1550</c:v>
                </c:pt>
                <c:pt idx="34">
                  <c:v>1708</c:v>
                </c:pt>
                <c:pt idx="35">
                  <c:v>1005</c:v>
                </c:pt>
                <c:pt idx="36">
                  <c:v>1623</c:v>
                </c:pt>
                <c:pt idx="37">
                  <c:v>1712</c:v>
                </c:pt>
                <c:pt idx="38">
                  <c:v>1530</c:v>
                </c:pt>
                <c:pt idx="39">
                  <c:v>1605</c:v>
                </c:pt>
                <c:pt idx="40">
                  <c:v>1538</c:v>
                </c:pt>
                <c:pt idx="41">
                  <c:v>1746</c:v>
                </c:pt>
                <c:pt idx="42">
                  <c:v>1472</c:v>
                </c:pt>
                <c:pt idx="43">
                  <c:v>1589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C96-42D5-AA35-50CA585247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>
            <a:solidFill>
              <a:srgbClr val="D9E2E8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>
              <a:solidFill>
                <a:srgbClr val="D9E2E8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B6B7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Hours</c:v>
                </c:pt>
              </c:strCache>
            </c:strRef>
          </c:tx>
          <c:spPr>
            <a:solidFill>
              <a:srgbClr val="0A8794"/>
            </a:solidFill>
          </c:spPr>
          <c:invertIfNegative val="0"/>
          <c:dPt>
            <c:idx val="4"/>
            <c:invertIfNegative val="1"/>
            <c:bubble3D val="0"/>
            <c:spPr>
              <a:solidFill>
                <a:srgbClr val="F2A541"/>
              </a:solidFill>
            </c:spPr>
            <c:extLst>
              <c:ext xmlns:c16="http://schemas.microsoft.com/office/drawing/2014/chart" uri="{C3380CC4-5D6E-409C-BE32-E72D297353CC}">
                <c16:uniqueId val="{00000001-F5C5-4522-9512-E83873A46E03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1B2A3A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1–20</c:v>
                </c:pt>
                <c:pt idx="1">
                  <c:v>21–50</c:v>
                </c:pt>
                <c:pt idx="2">
                  <c:v>51–100</c:v>
                </c:pt>
                <c:pt idx="3">
                  <c:v>101–150</c:v>
                </c:pt>
                <c:pt idx="4">
                  <c:v>151+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283</c:v>
                </c:pt>
                <c:pt idx="1">
                  <c:v>224</c:v>
                </c:pt>
                <c:pt idx="2">
                  <c:v>323</c:v>
                </c:pt>
                <c:pt idx="3">
                  <c:v>93</c:v>
                </c:pt>
                <c:pt idx="4">
                  <c:v>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5C5-4522-9512-E83873A46E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>
            <a:solidFill>
              <a:srgbClr val="D9E2E8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D9E2E8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5B6B7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Rides per day</c:v>
                </c:pt>
              </c:strCache>
            </c:strRef>
          </c:tx>
          <c:spPr>
            <a:solidFill>
              <a:srgbClr val="7CC3CB"/>
            </a:solidFill>
          </c:spPr>
          <c:invertIfNegative val="0"/>
          <c:dPt>
            <c:idx val="0"/>
            <c:invertIfNegative val="1"/>
            <c:bubble3D val="0"/>
            <c:spPr>
              <a:solidFill>
                <a:srgbClr val="0A8794"/>
              </a:solidFill>
            </c:spPr>
            <c:extLst>
              <c:ext xmlns:c16="http://schemas.microsoft.com/office/drawing/2014/chart" uri="{C3380CC4-5D6E-409C-BE32-E72D297353CC}">
                <c16:uniqueId val="{00000001-FEFD-4E89-94B6-B0F4B6DCC601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1B2A3A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Weekday</c:v>
                </c:pt>
                <c:pt idx="1">
                  <c:v>Weekend</c:v>
                </c:pt>
                <c:pt idx="2">
                  <c:v>Public holiday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1423.5862068965516</c:v>
                </c:pt>
                <c:pt idx="1">
                  <c:v>1133.5</c:v>
                </c:pt>
                <c:pt idx="2">
                  <c:v>1000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EFD-4E89-94B6-B0F4B6DCC60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>
            <a:solidFill>
              <a:srgbClr val="D9E2E8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D9E2E8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5B6B7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Weekday</c:v>
                </c:pt>
              </c:strCache>
            </c:strRef>
          </c:tx>
          <c:spPr>
            <a:ln w="44450">
              <a:solidFill>
                <a:srgbClr val="0A8794"/>
              </a:solidFill>
            </a:ln>
          </c:spPr>
          <c:marker>
            <c:symbol val="none"/>
          </c:marker>
          <c:cat>
            <c:strRef>
              <c:f>Sheet1!$A$2:$A$25</c:f>
              <c:strCach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9.7666666666666675</c:v>
                </c:pt>
                <c:pt idx="1">
                  <c:v>4.4000000000000004</c:v>
                </c:pt>
                <c:pt idx="2">
                  <c:v>2.1</c:v>
                </c:pt>
                <c:pt idx="3">
                  <c:v>0.73333333333333328</c:v>
                </c:pt>
                <c:pt idx="4">
                  <c:v>1.0333333333333334</c:v>
                </c:pt>
                <c:pt idx="5">
                  <c:v>4.5333333333333332</c:v>
                </c:pt>
                <c:pt idx="6">
                  <c:v>26.3</c:v>
                </c:pt>
                <c:pt idx="7">
                  <c:v>75</c:v>
                </c:pt>
                <c:pt idx="8">
                  <c:v>170.2</c:v>
                </c:pt>
                <c:pt idx="9">
                  <c:v>106.4</c:v>
                </c:pt>
                <c:pt idx="10">
                  <c:v>43.9</c:v>
                </c:pt>
                <c:pt idx="11">
                  <c:v>45.1</c:v>
                </c:pt>
                <c:pt idx="12">
                  <c:v>59.766666666666666</c:v>
                </c:pt>
                <c:pt idx="13">
                  <c:v>61.833333333333336</c:v>
                </c:pt>
                <c:pt idx="14">
                  <c:v>55.666666666666664</c:v>
                </c:pt>
                <c:pt idx="15">
                  <c:v>56.333333333333336</c:v>
                </c:pt>
                <c:pt idx="16">
                  <c:v>79.900000000000006</c:v>
                </c:pt>
                <c:pt idx="17">
                  <c:v>163.19999999999999</c:v>
                </c:pt>
                <c:pt idx="18">
                  <c:v>143.1</c:v>
                </c:pt>
                <c:pt idx="19">
                  <c:v>96.63333333333334</c:v>
                </c:pt>
                <c:pt idx="20">
                  <c:v>68.766666666666666</c:v>
                </c:pt>
                <c:pt idx="21">
                  <c:v>48.3</c:v>
                </c:pt>
                <c:pt idx="22">
                  <c:v>35.43333333333333</c:v>
                </c:pt>
                <c:pt idx="23">
                  <c:v>22.766666666666666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803-4F89-A0B8-F4A7A3CEB16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Weekend</c:v>
                </c:pt>
              </c:strCache>
            </c:strRef>
          </c:tx>
          <c:spPr>
            <a:ln w="44450">
              <a:solidFill>
                <a:srgbClr val="F2A541"/>
              </a:solidFill>
            </a:ln>
          </c:spPr>
          <c:marker>
            <c:symbol val="none"/>
          </c:marker>
          <c:cat>
            <c:strRef>
              <c:f>Sheet1!$A$2:$A$25</c:f>
              <c:strCach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28.071428571428573</c:v>
                </c:pt>
                <c:pt idx="1">
                  <c:v>22.285714285714285</c:v>
                </c:pt>
                <c:pt idx="2">
                  <c:v>15.928571428571429</c:v>
                </c:pt>
                <c:pt idx="3">
                  <c:v>9.0714285714285712</c:v>
                </c:pt>
                <c:pt idx="4">
                  <c:v>2.5</c:v>
                </c:pt>
                <c:pt idx="5">
                  <c:v>1.9285714285714286</c:v>
                </c:pt>
                <c:pt idx="6">
                  <c:v>2</c:v>
                </c:pt>
                <c:pt idx="7">
                  <c:v>5.4285714285714288</c:v>
                </c:pt>
                <c:pt idx="8">
                  <c:v>17.785714285714285</c:v>
                </c:pt>
                <c:pt idx="9">
                  <c:v>30.928571428571427</c:v>
                </c:pt>
                <c:pt idx="10">
                  <c:v>62.785714285714285</c:v>
                </c:pt>
                <c:pt idx="11">
                  <c:v>76.928571428571431</c:v>
                </c:pt>
                <c:pt idx="12">
                  <c:v>100.71428571428571</c:v>
                </c:pt>
                <c:pt idx="13">
                  <c:v>102</c:v>
                </c:pt>
                <c:pt idx="14">
                  <c:v>103.14285714285714</c:v>
                </c:pt>
                <c:pt idx="15">
                  <c:v>112.07142857142857</c:v>
                </c:pt>
                <c:pt idx="16">
                  <c:v>103.5</c:v>
                </c:pt>
                <c:pt idx="17">
                  <c:v>85.857142857142861</c:v>
                </c:pt>
                <c:pt idx="18">
                  <c:v>64.142857142857139</c:v>
                </c:pt>
                <c:pt idx="19">
                  <c:v>50.142857142857146</c:v>
                </c:pt>
                <c:pt idx="20">
                  <c:v>40</c:v>
                </c:pt>
                <c:pt idx="21">
                  <c:v>37.142857142857146</c:v>
                </c:pt>
                <c:pt idx="22">
                  <c:v>30.857142857142858</c:v>
                </c:pt>
                <c:pt idx="23">
                  <c:v>28.285714285714285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803-4F89-A0B8-F4A7A3CEB1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>
            <a:solidFill>
              <a:srgbClr val="D9E2E8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>
              <a:solidFill>
                <a:srgbClr val="D9E2E8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5B6B7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Registered</c:v>
                </c:pt>
              </c:strCache>
            </c:strRef>
          </c:tx>
          <c:spPr>
            <a:solidFill>
              <a:srgbClr val="0A8794"/>
            </a:solidFill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12–4a</c:v>
                </c:pt>
                <c:pt idx="1">
                  <c:v>4–8a</c:v>
                </c:pt>
                <c:pt idx="2">
                  <c:v>8a–12p</c:v>
                </c:pt>
                <c:pt idx="3">
                  <c:v>12–4p</c:v>
                </c:pt>
                <c:pt idx="4">
                  <c:v>4–8p</c:v>
                </c:pt>
                <c:pt idx="5">
                  <c:v>8p–12a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1419</c:v>
                </c:pt>
                <c:pt idx="1">
                  <c:v>3299</c:v>
                </c:pt>
                <c:pt idx="2">
                  <c:v>12925</c:v>
                </c:pt>
                <c:pt idx="3">
                  <c:v>11214</c:v>
                </c:pt>
                <c:pt idx="4">
                  <c:v>17744</c:v>
                </c:pt>
                <c:pt idx="5">
                  <c:v>6782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3C7-49E9-9B92-2D2121E8F2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Casual</c:v>
                </c:pt>
              </c:strCache>
            </c:strRef>
          </c:tx>
          <c:spPr>
            <a:solidFill>
              <a:srgbClr val="F2A54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12–4a</c:v>
                </c:pt>
                <c:pt idx="1">
                  <c:v>4–8a</c:v>
                </c:pt>
                <c:pt idx="2">
                  <c:v>8a–12p</c:v>
                </c:pt>
                <c:pt idx="3">
                  <c:v>12–4p</c:v>
                </c:pt>
                <c:pt idx="4">
                  <c:v>4–8p</c:v>
                </c:pt>
                <c:pt idx="5">
                  <c:v>8p–12a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189</c:v>
                </c:pt>
                <c:pt idx="1">
                  <c:v>95</c:v>
                </c:pt>
                <c:pt idx="2">
                  <c:v>882</c:v>
                </c:pt>
                <c:pt idx="3">
                  <c:v>1997</c:v>
                </c:pt>
                <c:pt idx="4">
                  <c:v>1297</c:v>
                </c:pt>
                <c:pt idx="5">
                  <c:v>461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3C7-49E9-9B92-2D2121E8F2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>
            <a:solidFill>
              <a:srgbClr val="D9E2E8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D9E2E8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200">
          <a:solidFill>
            <a:srgbClr val="5B6B7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Casual share</c:v>
                </c:pt>
              </c:strCache>
            </c:strRef>
          </c:tx>
          <c:spPr>
            <a:solidFill>
              <a:srgbClr val="7CC3CB"/>
            </a:solidFill>
          </c:spPr>
          <c:invertIfNegative val="0"/>
          <c:dPt>
            <c:idx val="2"/>
            <c:invertIfNegative val="1"/>
            <c:bubble3D val="0"/>
            <c:spPr>
              <a:solidFill>
                <a:srgbClr val="F2A541"/>
              </a:solidFill>
            </c:spPr>
            <c:extLst>
              <c:ext xmlns:c16="http://schemas.microsoft.com/office/drawing/2014/chart" uri="{C3380CC4-5D6E-409C-BE32-E72D297353CC}">
                <c16:uniqueId val="{00000001-2037-43CD-99AB-FC4BFFE527BC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1B2A3A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Weekday</c:v>
                </c:pt>
                <c:pt idx="1">
                  <c:v>Public holiday</c:v>
                </c:pt>
                <c:pt idx="2">
                  <c:v>Weekend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5.0730059128755878</c:v>
                </c:pt>
                <c:pt idx="1">
                  <c:v>11.700000000000001</c:v>
                </c:pt>
                <c:pt idx="2">
                  <c:v>17.026907807675343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37-43CD-99AB-FC4BFFE527B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>
            <a:solidFill>
              <a:srgbClr val="D9E2E8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D9E2E8"/>
              </a:solidFill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5B6B7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Avg rides per hour</c:v>
                </c:pt>
              </c:strCache>
            </c:strRef>
          </c:tx>
          <c:spPr>
            <a:solidFill>
              <a:srgbClr val="7CC3CB"/>
            </a:solidFill>
          </c:spPr>
          <c:invertIfNegative val="0"/>
          <c:dPt>
            <c:idx val="4"/>
            <c:invertIfNegative val="1"/>
            <c:bubble3D val="0"/>
            <c:spPr>
              <a:solidFill>
                <a:srgbClr val="0A8794"/>
              </a:solidFill>
            </c:spPr>
            <c:extLst>
              <c:ext xmlns:c16="http://schemas.microsoft.com/office/drawing/2014/chart" uri="{C3380CC4-5D6E-409C-BE32-E72D297353CC}">
                <c16:uniqueId val="{00000001-17C0-49DC-86A6-0C7748C2BC13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1B2A3A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≤0.15</c:v>
                </c:pt>
                <c:pt idx="1">
                  <c:v>0.15–0.20</c:v>
                </c:pt>
                <c:pt idx="2">
                  <c:v>0.20–0.25</c:v>
                </c:pt>
                <c:pt idx="3">
                  <c:v>0.25–0.30</c:v>
                </c:pt>
                <c:pt idx="4">
                  <c:v>&gt;0.30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42.675925925925924</c:v>
                </c:pt>
                <c:pt idx="1">
                  <c:v>55.642228739002931</c:v>
                </c:pt>
                <c:pt idx="2">
                  <c:v>59.355855855855857</c:v>
                </c:pt>
                <c:pt idx="3">
                  <c:v>72.216666666666669</c:v>
                </c:pt>
                <c:pt idx="4">
                  <c:v>81.871287128712865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7C0-49DC-86A6-0C7748C2BC1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>
            <a:solidFill>
              <a:srgbClr val="D9E2E8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D9E2E8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5B6B7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Avg rides per hour</c:v>
                </c:pt>
              </c:strCache>
            </c:strRef>
          </c:tx>
          <c:spPr>
            <a:solidFill>
              <a:srgbClr val="7CC3CB"/>
            </a:solidFill>
          </c:spPr>
          <c:invertIfNegative val="0"/>
          <c:dPt>
            <c:idx val="2"/>
            <c:invertIfNegative val="1"/>
            <c:bubble3D val="0"/>
            <c:spPr>
              <a:solidFill>
                <a:srgbClr val="F2A541"/>
              </a:solidFill>
            </c:spPr>
            <c:extLst>
              <c:ext xmlns:c16="http://schemas.microsoft.com/office/drawing/2014/chart" uri="{C3380CC4-5D6E-409C-BE32-E72D297353CC}">
                <c16:uniqueId val="{00000001-FEEE-4B18-AF81-76EF9B6D503A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1B2A3A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Sunny</c:v>
                </c:pt>
                <c:pt idx="1">
                  <c:v>Few Clouds</c:v>
                </c:pt>
                <c:pt idx="2">
                  <c:v>Mist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61.671617161716171</c:v>
                </c:pt>
                <c:pt idx="1">
                  <c:v>58.595469255663431</c:v>
                </c:pt>
                <c:pt idx="2">
                  <c:v>33.202380952380949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EEE-4B18-AF81-76EF9B6D503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>
            <a:solidFill>
              <a:srgbClr val="D9E2E8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D9E2E8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5B6B7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 riders</c:v>
                </c:pt>
              </c:strCache>
            </c:strRef>
          </c:tx>
          <c:spPr>
            <a:solidFill>
              <a:srgbClr val="0A8794"/>
            </a:solidFill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1B2A3A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Temperature</c:v>
                </c:pt>
                <c:pt idx="1">
                  <c:v>Humidity</c:v>
                </c:pt>
                <c:pt idx="2">
                  <c:v>Wind speed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0.22929155386993288</c:v>
                </c:pt>
                <c:pt idx="1">
                  <c:v>-0.25435329828790387</c:v>
                </c:pt>
                <c:pt idx="2">
                  <c:v>0.1039966800857761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C6-4B96-8B1E-FAAEAF5BD10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Casual riders</c:v>
                </c:pt>
              </c:strCache>
            </c:strRef>
          </c:tx>
          <c:spPr>
            <a:solidFill>
              <a:srgbClr val="F2A541"/>
            </a:solidFill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1B2A3A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Temperature</c:v>
                </c:pt>
                <c:pt idx="1">
                  <c:v>Humidity</c:v>
                </c:pt>
                <c:pt idx="2">
                  <c:v>Wind speed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0.47022073160199168</c:v>
                </c:pt>
                <c:pt idx="1">
                  <c:v>-0.25940745454286185</c:v>
                </c:pt>
                <c:pt idx="2">
                  <c:v>0.12939194234487622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C6-4B96-8B1E-FAAEAF5BD10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low"/>
        <c:spPr>
          <a:ln>
            <a:solidFill>
              <a:srgbClr val="D9E2E8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>
              <a:solidFill>
                <a:srgbClr val="D9E2E8"/>
              </a:solidFill>
            </a:ln>
          </c:spPr>
        </c:majorGridlines>
        <c:numFmt formatCode="0.0" sourceLinked="0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200">
          <a:solidFill>
            <a:srgbClr val="5B6B7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Casual rides per hour</c:v>
                </c:pt>
              </c:strCache>
            </c:strRef>
          </c:tx>
          <c:spPr>
            <a:solidFill>
              <a:srgbClr val="7CC3CB"/>
            </a:solidFill>
          </c:spPr>
          <c:invertIfNegative val="0"/>
          <c:dPt>
            <c:idx val="2"/>
            <c:invertIfNegative val="1"/>
            <c:bubble3D val="0"/>
            <c:spPr>
              <a:solidFill>
                <a:srgbClr val="F2A541"/>
              </a:solidFill>
            </c:spPr>
            <c:extLst>
              <c:ext xmlns:c16="http://schemas.microsoft.com/office/drawing/2014/chart" uri="{C3380CC4-5D6E-409C-BE32-E72D297353CC}">
                <c16:uniqueId val="{00000001-2B80-4139-B570-4A38C4ABF676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1B2A3A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Cool · 26 hrs</c:v>
                </c:pt>
                <c:pt idx="1">
                  <c:v>Warm, humid · 10 hrs</c:v>
                </c:pt>
                <c:pt idx="2">
                  <c:v>Warm, dry · 20 hrs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11.423076923076923</c:v>
                </c:pt>
                <c:pt idx="1">
                  <c:v>23.6</c:v>
                </c:pt>
                <c:pt idx="2">
                  <c:v>35.65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B80-4139-B570-4A38C4ABF67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>
            <a:solidFill>
              <a:srgbClr val="D9E2E8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D9E2E8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5B6B7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260486-9410-48C0-A518-F470C0FA8621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3734FF-2434-4DA4-8D9C-7EF810A8159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4829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6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FE6EA"/>
                </a:solidFill>
                <a:latin typeface="Calibri"/>
              </a:rPr>
              <a:t>BIKE-SHARE OPERATIONS  |  DEMAND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6766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Bike-Share</a:t>
            </a:r>
          </a:p>
          <a:p>
            <a:pPr algn="l"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Demand Drivers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64008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en-IN" sz="2400" dirty="0">
                <a:solidFill>
                  <a:srgbClr val="BFE6EA"/>
                </a:solidFill>
                <a:latin typeface="Calibri"/>
              </a:rPr>
              <a:t>Project: </a:t>
            </a:r>
            <a:r>
              <a:rPr lang="en-IN" sz="2400" dirty="0" err="1">
                <a:solidFill>
                  <a:srgbClr val="BFE6EA"/>
                </a:solidFill>
                <a:latin typeface="Calibri"/>
              </a:rPr>
              <a:t>Nexthikes</a:t>
            </a:r>
            <a:r>
              <a:rPr lang="en-IN" sz="2400" dirty="0">
                <a:solidFill>
                  <a:srgbClr val="BFE6EA"/>
                </a:solidFill>
                <a:latin typeface="Calibri"/>
              </a:rPr>
              <a:t> IT Solutions</a:t>
            </a:r>
            <a:endParaRPr sz="2400" b="0" dirty="0">
              <a:solidFill>
                <a:srgbClr val="BFE6EA"/>
              </a:solidFill>
              <a:latin typeface="Calibri"/>
            </a:endParaRPr>
          </a:p>
        </p:txBody>
      </p:sp>
      <p:sp>
        <p:nvSpPr>
          <p:cNvPr id="5" name="Oval 4"/>
          <p:cNvSpPr/>
          <p:nvPr/>
        </p:nvSpPr>
        <p:spPr>
          <a:xfrm>
            <a:off x="7863840" y="1463040"/>
            <a:ext cx="3657600" cy="3657600"/>
          </a:xfrm>
          <a:prstGeom prst="ellipse">
            <a:avLst/>
          </a:prstGeom>
          <a:solidFill>
            <a:srgbClr val="0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0" y="2423160"/>
            <a:ext cx="365760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58,304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347472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rides analysed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2263F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5B6B7B"/>
                </a:solidFill>
                <a:latin typeface="Calibri"/>
              </a:rPr>
              <a:t>Commuters, clock and climate drive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484778" cy="406908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22959" y="2057400"/>
            <a:ext cx="548640" cy="548640"/>
          </a:xfrm>
          <a:prstGeom prst="ellipse">
            <a:avLst/>
          </a:prstGeom>
          <a:solidFill>
            <a:srgbClr val="0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59" y="2057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834640"/>
            <a:ext cx="293613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0A8794"/>
                </a:solidFill>
                <a:latin typeface="Calibri"/>
              </a:rPr>
              <a:t>91.6%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886200"/>
            <a:ext cx="293613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2263F"/>
                </a:solidFill>
                <a:latin typeface="Calibri"/>
              </a:rPr>
              <a:t>Commuters carry the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663440"/>
            <a:ext cx="2936138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Registered riders. 60% of weekday rides fall in 7 commute hours.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3458" y="1783080"/>
            <a:ext cx="3484778" cy="406908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627778" y="2057400"/>
            <a:ext cx="548640" cy="548640"/>
          </a:xfrm>
          <a:prstGeom prst="ellipse">
            <a:avLst/>
          </a:prstGeom>
          <a:solidFill>
            <a:srgbClr val="0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27778" y="2057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2834640"/>
            <a:ext cx="293613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0A8794"/>
                </a:solidFill>
                <a:latin typeface="Calibri"/>
              </a:rPr>
              <a:t>3.4×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7778" y="3886200"/>
            <a:ext cx="293613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2263F"/>
                </a:solidFill>
                <a:latin typeface="Calibri"/>
              </a:rPr>
              <a:t>Weekends turn leisure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7778" y="4663440"/>
            <a:ext cx="2936138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Casual share 17.0% vs 5.1% on weekdays.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8276" y="1783080"/>
            <a:ext cx="3484778" cy="406908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432596" y="2057400"/>
            <a:ext cx="548640" cy="548640"/>
          </a:xfrm>
          <a:prstGeom prst="ellipse">
            <a:avLst/>
          </a:prstGeom>
          <a:solidFill>
            <a:srgbClr val="0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32596" y="2057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2596" y="2834640"/>
            <a:ext cx="293613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0A8794"/>
                </a:solidFill>
                <a:latin typeface="Calibri"/>
              </a:rPr>
              <a:t>−46%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2596" y="3886200"/>
            <a:ext cx="293613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2263F"/>
                </a:solidFill>
                <a:latin typeface="Calibri"/>
              </a:rPr>
              <a:t>Weather sets the ceiling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2596" y="4663440"/>
            <a:ext cx="2936138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Mist hours vs sunny. Warm hours run 92% above cold.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2263F"/>
                </a:solidFill>
                <a:latin typeface="Calibri"/>
              </a:rPr>
              <a:t>What the Data Covers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5B6B7B"/>
                </a:solidFill>
                <a:latin typeface="Calibri"/>
              </a:rPr>
              <a:t>1,000 hourly records from one winter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377440" cy="173736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9202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0A8794"/>
                </a:solidFill>
                <a:latin typeface="Calibri"/>
              </a:rPr>
              <a:t>1,000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hourly records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783080"/>
            <a:ext cx="2377440" cy="173736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29000" y="1965960"/>
            <a:ext cx="19202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0A8794"/>
                </a:solidFill>
                <a:latin typeface="Calibri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88036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days observed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2377440" cy="173736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19202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0A8794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source tables merged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3794760"/>
            <a:ext cx="2377440" cy="173736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29000" y="3977640"/>
            <a:ext cx="19202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0A8794"/>
                </a:solidFill>
                <a:latin typeface="Calibr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489204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missing values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1783080"/>
            <a:ext cx="5513832" cy="3749039"/>
          </a:xfrm>
          <a:prstGeom prst="roundRect">
            <a:avLst>
              <a:gd name="adj" fmla="val 6000"/>
            </a:avLst>
          </a:prstGeom>
          <a:solidFill>
            <a:srgbClr val="12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20116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2A541"/>
                </a:solidFill>
                <a:latin typeface="Calibri"/>
              </a:rPr>
              <a:t>Read with care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651760"/>
            <a:ext cx="4937760" cy="2431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IN" dirty="0">
                <a:solidFill>
                  <a:srgbClr val="FFFFFF"/>
                </a:solidFill>
                <a:latin typeface="Calibri"/>
              </a:rPr>
              <a:t>Winter</a:t>
            </a:r>
            <a:r>
              <a:rPr lang="en-IN" dirty="0"/>
              <a:t> </a:t>
            </a:r>
            <a:r>
              <a:rPr lang="en-IN" dirty="0">
                <a:solidFill>
                  <a:srgbClr val="FFFFFF"/>
                </a:solidFill>
                <a:latin typeface="Calibri"/>
              </a:rPr>
              <a:t>only:</a:t>
            </a:r>
            <a:r>
              <a:rPr lang="en-IN" dirty="0"/>
              <a:t> </a:t>
            </a:r>
            <a:r>
              <a:rPr lang="en-IN" dirty="0">
                <a:solidFill>
                  <a:srgbClr val="FFFFFF"/>
                </a:solidFill>
                <a:latin typeface="Calibri"/>
              </a:rPr>
              <a:t>no</a:t>
            </a:r>
            <a:r>
              <a:rPr lang="en-IN" dirty="0"/>
              <a:t> </a:t>
            </a:r>
            <a:r>
              <a:rPr lang="en-IN" dirty="0">
                <a:solidFill>
                  <a:srgbClr val="FFFFFF"/>
                </a:solidFill>
                <a:latin typeface="Calibri"/>
              </a:rPr>
              <a:t>seasonal</a:t>
            </a:r>
            <a:r>
              <a:rPr lang="en-IN" dirty="0"/>
              <a:t> </a:t>
            </a:r>
            <a:r>
              <a:rPr lang="en-IN" dirty="0">
                <a:solidFill>
                  <a:srgbClr val="FFFFFF"/>
                </a:solidFill>
                <a:latin typeface="Calibri"/>
              </a:rPr>
              <a:t>trends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IN" dirty="0">
                <a:solidFill>
                  <a:srgbClr val="FFFFFF"/>
                </a:solidFill>
                <a:latin typeface="Calibri"/>
              </a:rPr>
              <a:t>One holiday (Jan 17): read as a single day</a:t>
            </a:r>
            <a:endParaRPr lang="en-US" sz="1800" b="0" dirty="0">
              <a:solidFill>
                <a:srgbClr val="FFFFFF"/>
              </a:solidFill>
              <a:latin typeface="Calibri"/>
            </a:endParaRP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IN" dirty="0">
                <a:solidFill>
                  <a:srgbClr val="FFFFFF"/>
                </a:solidFill>
                <a:latin typeface="Calibri"/>
              </a:rPr>
              <a:t>Feb 14 is partial: left out of daily trends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IN" dirty="0">
                <a:solidFill>
                  <a:srgbClr val="FFFFFF"/>
                </a:solidFill>
                <a:latin typeface="Calibri"/>
              </a:rPr>
              <a:t>Temperature is a 0–1 index, not °C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IN" dirty="0">
                <a:solidFill>
                  <a:srgbClr val="FFFFFF"/>
                </a:solidFill>
                <a:latin typeface="Calibri"/>
              </a:rPr>
              <a:t>80 of 1,080 hours have no record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IN" dirty="0">
                <a:solidFill>
                  <a:srgbClr val="FFFFFF"/>
                </a:solidFill>
                <a:latin typeface="Calibri"/>
              </a:rPr>
              <a:t>Heavy rain: 1 hour only, too thin to read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2263F"/>
                </a:solidFill>
                <a:latin typeface="Calibri"/>
              </a:rPr>
              <a:t>Total Demand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5B6B7B"/>
                </a:solidFill>
                <a:latin typeface="Calibri"/>
              </a:rPr>
              <a:t>58,304 rides in 45 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120640" cy="4343400"/>
          </a:xfrm>
          <a:prstGeom prst="roundRect">
            <a:avLst>
              <a:gd name="adj" fmla="val 6000"/>
            </a:avLst>
          </a:prstGeom>
          <a:solidFill>
            <a:srgbClr val="12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512064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0" b="1" dirty="0">
                <a:solidFill>
                  <a:srgbClr val="FFFFFF"/>
                </a:solidFill>
                <a:latin typeface="Calibri"/>
              </a:rPr>
              <a:t>58,304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>
                <a:solidFill>
                  <a:srgbClr val="BFE6EA"/>
                </a:solidFill>
                <a:latin typeface="Calibri"/>
              </a:rPr>
              <a:t>total rides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783080"/>
            <a:ext cx="5605272" cy="126492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09359" y="1783080"/>
            <a:ext cx="210312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0A8794"/>
                </a:solidFill>
                <a:latin typeface="Calibri"/>
              </a:rPr>
              <a:t>58.3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1783080"/>
            <a:ext cx="2907792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average rides per hour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322320"/>
            <a:ext cx="5605272" cy="126492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9359" y="3322320"/>
            <a:ext cx="210312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0A8794"/>
                </a:solidFill>
                <a:latin typeface="Calibri"/>
              </a:rPr>
              <a:t>1,322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322320"/>
            <a:ext cx="2907792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average rides per day (full days)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861560"/>
            <a:ext cx="5605272" cy="126492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59" y="4861560"/>
            <a:ext cx="210312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B86E00"/>
                </a:solidFill>
                <a:latin typeface="Calibri"/>
              </a:rPr>
              <a:t>249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861560"/>
            <a:ext cx="2907792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peak hour: Jan 20, 8 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2263F"/>
                </a:solidFill>
                <a:latin typeface="Calibri"/>
              </a:rPr>
              <a:t>Registered Riders Dominate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5B6B7B"/>
                </a:solidFill>
                <a:latin typeface="Calibri"/>
              </a:rPr>
              <a:t>9 in 10 rides come from subscribers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91640"/>
          <a:ext cx="47548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429000"/>
            <a:ext cx="4754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12263F"/>
                </a:solidFill>
                <a:latin typeface="Calibri"/>
              </a:rPr>
              <a:t>91.6%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5B6B7B"/>
                </a:solidFill>
                <a:latin typeface="Calibri"/>
              </a:rPr>
              <a:t>registered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1828800"/>
            <a:ext cx="5788152" cy="146304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0" y="1828800"/>
            <a:ext cx="201168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0A8794"/>
                </a:solidFill>
                <a:latin typeface="Calibri"/>
              </a:rPr>
              <a:t>91.6%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182112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53,383 rides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registered subscribers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3566160"/>
            <a:ext cx="5788152" cy="146304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6480" y="3566160"/>
            <a:ext cx="201168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B86E00"/>
                </a:solidFill>
                <a:latin typeface="Calibri"/>
              </a:rPr>
              <a:t>8.4%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566160"/>
            <a:ext cx="3182112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4,921 rides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casual riders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5349240"/>
            <a:ext cx="578815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2263F"/>
                </a:solidFill>
                <a:latin typeface="Calibri"/>
              </a:rPr>
              <a:t>Fleet planning = commuter planning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2263F"/>
                </a:solidFill>
                <a:latin typeface="Calibri"/>
              </a:rPr>
              <a:t>Daily Demand 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5B6B7B"/>
                </a:solidFill>
                <a:latin typeface="Calibri"/>
              </a:rPr>
              <a:t>Steady climb after a late-January dip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91640"/>
          <a:ext cx="7955279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778240" y="1783080"/>
            <a:ext cx="2862072" cy="205740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052560" y="1965960"/>
            <a:ext cx="23774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0A8794"/>
                </a:solidFill>
                <a:latin typeface="Calibri"/>
              </a:rPr>
              <a:t>+14%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283464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Week 6 vs week 1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(rides per day)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4069080"/>
            <a:ext cx="2862072" cy="205740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052560" y="4251960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B86E00"/>
                </a:solidFill>
                <a:latin typeface="Calibri"/>
              </a:rPr>
              <a:t>Jan 26–27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4937760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Dip to 506 and 431 rides, after heavy rain on Jan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2263F"/>
                </a:solidFill>
                <a:latin typeface="Calibri"/>
              </a:rPr>
              <a:t>Demand Is Spiky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5B6B7B"/>
                </a:solidFill>
                <a:latin typeface="Calibri"/>
              </a:rPr>
              <a:t>Peak hour runs 4.3× the average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91640"/>
          <a:ext cx="676656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6766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Calibri"/>
              </a:rPr>
              <a:t>Number of hours by rides per hour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783080"/>
            <a:ext cx="3959352" cy="126492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55280" y="1783080"/>
            <a:ext cx="155448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0A8794"/>
                </a:solidFill>
                <a:latin typeface="Calibri"/>
              </a:rPr>
              <a:t>58.3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1783080"/>
            <a:ext cx="1810512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average rides per hour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3322320"/>
            <a:ext cx="3959352" cy="126492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5280" y="3322320"/>
            <a:ext cx="155448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B86E00"/>
                </a:solidFill>
                <a:latin typeface="Calibri"/>
              </a:rPr>
              <a:t>249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3322320"/>
            <a:ext cx="1810512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peak rides in one hour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4861560"/>
            <a:ext cx="3959352" cy="126492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55280" y="4861560"/>
            <a:ext cx="155448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0A8794"/>
                </a:solidFill>
                <a:latin typeface="Calibri"/>
              </a:rPr>
              <a:t>4.3×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4861560"/>
            <a:ext cx="1810512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peak vs average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2263F"/>
                </a:solidFill>
                <a:latin typeface="Calibri"/>
              </a:rPr>
              <a:t>Weekdays Beat Weekends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5B6B7B"/>
                </a:solidFill>
                <a:latin typeface="Calibri"/>
              </a:rPr>
              <a:t>26% more rides per day than weekends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8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91640"/>
          <a:ext cx="60350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440" y="1783080"/>
            <a:ext cx="4690872" cy="4343400"/>
          </a:xfrm>
          <a:prstGeom prst="roundRect">
            <a:avLst>
              <a:gd name="adj" fmla="val 6000"/>
            </a:avLst>
          </a:prstGeom>
          <a:solidFill>
            <a:srgbClr val="12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69480" y="201168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2A541"/>
                </a:solidFill>
                <a:latin typeface="Calibri"/>
              </a:rPr>
              <a:t>Totals mislead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2697480"/>
            <a:ext cx="41148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Weekdays: 30 days, 41,435 rides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Weekends: 14 days, 15,869 rides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Holiday: 1 day, 1,000 rides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4937760"/>
            <a:ext cx="4114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BFE6EA"/>
                </a:solidFill>
                <a:latin typeface="Calibri"/>
              </a:rPr>
              <a:t>Compare rides per day, not totals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2263F"/>
                </a:solidFill>
                <a:latin typeface="Calibri"/>
              </a:rPr>
              <a:t>Two Peaks vs One Hump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5B6B7B"/>
                </a:solidFill>
                <a:latin typeface="Calibri"/>
              </a:rPr>
              <a:t>Weekdays peak at 8 AM and 5 PM; weekends at 3 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11091672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34924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59" y="5349240"/>
            <a:ext cx="12801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A8794"/>
                </a:solidFill>
                <a:latin typeface="Calibri"/>
              </a:rP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5349240"/>
            <a:ext cx="35661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of weekday rides: 7–9 AM and 4–8 PM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534924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3952" y="5349240"/>
            <a:ext cx="12801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B86E00"/>
                </a:solidFill>
                <a:latin typeface="Calibri"/>
              </a:rPr>
              <a:t>112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5552" y="5349240"/>
            <a:ext cx="35661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rides/hour at the weekend peak (15:00)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dirty="0">
                <a:solidFill>
                  <a:srgbClr val="12263F"/>
                </a:solidFill>
                <a:latin typeface="Calibri"/>
              </a:rPr>
              <a:t>Evening Peak Carries One-Third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dirty="0">
                <a:solidFill>
                  <a:srgbClr val="5B6B7B"/>
                </a:solidFill>
                <a:latin typeface="Calibri"/>
              </a:rPr>
              <a:t>4–8 PM window delivers 33% of all rides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91640"/>
          <a:ext cx="68580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1783080"/>
            <a:ext cx="3959352" cy="203454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0" y="1783080"/>
            <a:ext cx="1737360" cy="20345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A8794"/>
                </a:solidFill>
                <a:latin typeface="Calibri"/>
              </a:rPr>
              <a:t>19,041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1783080"/>
            <a:ext cx="1627632" cy="20345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rides between 4 and 8 PM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4091939"/>
            <a:ext cx="3959352" cy="203454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80" y="4091939"/>
            <a:ext cx="1737360" cy="20345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B86E00"/>
                </a:solidFill>
                <a:latin typeface="Calibri"/>
              </a:rPr>
              <a:t>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4091939"/>
            <a:ext cx="1627632" cy="20345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of rides between 12 and 4 AM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2263F"/>
                </a:solidFill>
                <a:latin typeface="Calibri"/>
              </a:rPr>
              <a:t>When to Deploy: The Demand Grid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5B6B7B"/>
                </a:solidFill>
                <a:latin typeface="Calibri"/>
              </a:rPr>
              <a:t>Mon–Fri share one playbook; weekends run another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6931152" cy="42428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B6B7B"/>
                          </a:solidFill>
                          <a:latin typeface="Calibri"/>
                        </a:rPr>
                        <a:t>12–4 AM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B6B7B"/>
                          </a:solidFill>
                          <a:latin typeface="Calibri"/>
                        </a:rPr>
                        <a:t>4–8 AM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B6B7B"/>
                          </a:solidFill>
                          <a:latin typeface="Calibri"/>
                        </a:rPr>
                        <a:t>8 AM–12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B6B7B"/>
                          </a:solidFill>
                          <a:latin typeface="Calibri"/>
                        </a:rPr>
                        <a:t>12–4 PM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B6B7B"/>
                          </a:solidFill>
                          <a:latin typeface="Calibri"/>
                        </a:rPr>
                        <a:t>4–8 PM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B6B7B"/>
                          </a:solidFill>
                          <a:latin typeface="Calibri"/>
                        </a:rPr>
                        <a:t>8 PM–12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2263F"/>
                          </a:solidFill>
                          <a:latin typeface="Calibri"/>
                        </a:rPr>
                        <a:t>Monday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anchor="ctr">
                    <a:solidFill>
                      <a:srgbClr val="E9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45720" marR="45720" anchor="ctr">
                    <a:solidFill>
                      <a:srgbClr val="BDD5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45720" marR="45720" anchor="ctr">
                    <a:solidFill>
                      <a:srgbClr val="488A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45720" marR="45720" anchor="ctr">
                    <a:solidFill>
                      <a:srgbClr val="87B3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45720" marR="45720" anchor="ctr">
                    <a:solidFill>
                      <a:srgbClr val="0660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45720" marR="45720" anchor="ctr">
                    <a:solidFill>
                      <a:srgbClr val="A0C3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2263F"/>
                          </a:solidFill>
                          <a:latin typeface="Calibri"/>
                        </a:rPr>
                        <a:t>Tuesday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anchor="ctr"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45720" marR="45720" anchor="ctr">
                    <a:solidFill>
                      <a:srgbClr val="C0D7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marL="45720" marR="45720" anchor="ctr">
                    <a:solidFill>
                      <a:srgbClr val="5391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marL="45720" marR="45720" anchor="ctr">
                    <a:solidFill>
                      <a:srgbClr val="89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129</a:t>
                      </a:r>
                    </a:p>
                  </a:txBody>
                  <a:tcPr marL="45720" marR="45720" anchor="ctr">
                    <a:solidFill>
                      <a:srgbClr val="0D646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anchor="ctr">
                    <a:solidFill>
                      <a:srgbClr val="A4C5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2263F"/>
                          </a:solidFill>
                          <a:latin typeface="Calibri"/>
                        </a:rPr>
                        <a:t>Wednesday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anchor="ctr">
                    <a:solidFill>
                      <a:srgbClr val="E7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45720" marR="45720" anchor="ctr">
                    <a:solidFill>
                      <a:srgbClr val="C4D9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88</a:t>
                      </a:r>
                    </a:p>
                  </a:txBody>
                  <a:tcPr marL="45720" marR="45720" anchor="ctr">
                    <a:solidFill>
                      <a:srgbClr val="5592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45720" marR="45720" anchor="ctr">
                    <a:solidFill>
                      <a:srgbClr val="83B0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45720" marR="45720" anchor="ctr">
                    <a:solidFill>
                      <a:srgbClr val="29778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anchor="ctr">
                    <a:solidFill>
                      <a:srgbClr val="A3C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2263F"/>
                          </a:solidFill>
                          <a:latin typeface="Calibri"/>
                        </a:rPr>
                        <a:t>Thursday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anchor="ctr"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45720" marR="45720" anchor="ctr">
                    <a:solidFill>
                      <a:srgbClr val="C0D7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marL="45720" marR="45720" anchor="ctr">
                    <a:solidFill>
                      <a:srgbClr val="4F8F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45720" marR="45720" anchor="ctr">
                    <a:solidFill>
                      <a:srgbClr val="90B8B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 marL="45720" marR="45720" anchor="ctr">
                    <a:solidFill>
                      <a:srgbClr val="176B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marL="45720" marR="45720" anchor="ctr">
                    <a:solidFill>
                      <a:srgbClr val="94B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2263F"/>
                          </a:solidFill>
                          <a:latin typeface="Calibri"/>
                        </a:rPr>
                        <a:t>Friday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5720" marR="45720" anchor="ctr">
                    <a:solidFill>
                      <a:srgbClr val="E5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45720" marR="45720" anchor="ctr">
                    <a:solidFill>
                      <a:srgbClr val="C1D8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45720" marR="45720" anchor="ctr">
                    <a:solidFill>
                      <a:srgbClr val="307B8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L="45720" marR="45720" anchor="ctr">
                    <a:solidFill>
                      <a:srgbClr val="78A9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 marL="45720" marR="45720" anchor="ctr">
                    <a:solidFill>
                      <a:srgbClr val="1167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45720" marR="45720" anchor="ctr">
                    <a:solidFill>
                      <a:srgbClr val="A3C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2263F"/>
                          </a:solidFill>
                          <a:latin typeface="Calibri"/>
                        </a:rPr>
                        <a:t>Saturday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anchor="ctr">
                    <a:solidFill>
                      <a:srgbClr val="CFE1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anchor="ctr">
                    <a:solidFill>
                      <a:srgbClr val="A3C5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45720" marR="45720" anchor="ctr">
                    <a:solidFill>
                      <a:srgbClr val="478A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45720" marR="45720" anchor="ctr">
                    <a:solidFill>
                      <a:srgbClr val="6AA0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45720" marR="45720" anchor="ctr">
                    <a:solidFill>
                      <a:srgbClr val="A9C8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2263F"/>
                          </a:solidFill>
                          <a:latin typeface="Calibri"/>
                        </a:rPr>
                        <a:t>Sunday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anchor="ctr">
                    <a:solidFill>
                      <a:srgbClr val="CDDF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anchor="ctr">
                    <a:solidFill>
                      <a:srgbClr val="EB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45720" marR="45720" anchor="ctr">
                    <a:solidFill>
                      <a:srgbClr val="96BC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45720" marR="45720" anchor="ctr">
                    <a:solidFill>
                      <a:srgbClr val="29768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45720" marR="45720" anchor="ctr">
                    <a:solidFill>
                      <a:srgbClr val="6AA0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B2A3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45720" marR="45720" anchor="ctr">
                    <a:solidFill>
                      <a:srgbClr val="BDD5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18120" y="1783080"/>
            <a:ext cx="3822191" cy="126492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92440" y="1783080"/>
            <a:ext cx="160020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A8794"/>
                </a:solidFill>
                <a:latin typeface="Calibri"/>
              </a:rPr>
              <a:t>113–133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1783080"/>
            <a:ext cx="1627631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rides/hr, Mon–Fri 4–8 PM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3322320"/>
            <a:ext cx="3822191" cy="126492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92440" y="3322320"/>
            <a:ext cx="160020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B86E00"/>
                </a:solidFill>
                <a:latin typeface="Calibri"/>
              </a:rPr>
              <a:t>113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3322320"/>
            <a:ext cx="1627631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rides/hr, Sunday 12–4 PM: the weekend peak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4861560"/>
            <a:ext cx="3822191" cy="126492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92440" y="4861560"/>
            <a:ext cx="160020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A8794"/>
                </a:solidFill>
                <a:latin typeface="Calibri"/>
              </a:rPr>
              <a:t>18–19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4861560"/>
            <a:ext cx="1627631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rides/hr, weekend 12–4 AM vs 3–6 on weekdays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2263F"/>
                </a:solidFill>
                <a:latin typeface="Calibri"/>
              </a:rPr>
              <a:t>Casual Riders Triple on Weekends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5B6B7B"/>
                </a:solidFill>
                <a:latin typeface="Calibri"/>
              </a:rPr>
              <a:t>17.0% of weekend rides vs 5.1% on weekdays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6751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IN" sz="1100" b="0" dirty="0">
                <a:solidFill>
                  <a:srgbClr val="5B6B7B"/>
                </a:solidFill>
                <a:latin typeface="Calibri"/>
              </a:rPr>
              <a:t>12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91640"/>
          <a:ext cx="65836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0" y="1783080"/>
            <a:ext cx="3867912" cy="434340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412480" y="2057400"/>
            <a:ext cx="2560320" cy="2560320"/>
          </a:xfrm>
          <a:prstGeom prst="ellipse">
            <a:avLst/>
          </a:prstGeom>
          <a:solidFill>
            <a:srgbClr val="0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0" y="2057400"/>
            <a:ext cx="2560320" cy="2560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3.4×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4800600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2263F"/>
                </a:solidFill>
                <a:latin typeface="Calibri"/>
              </a:rPr>
              <a:t>weekend vs weekday casual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44068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5B6B7B"/>
                </a:solidFill>
                <a:latin typeface="Calibri"/>
              </a:rPr>
              <a:t>21.3% casual at weekend 12–4 PM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2263F"/>
                </a:solidFill>
                <a:latin typeface="Calibri"/>
              </a:rPr>
              <a:t>Warmth Nearly Doubles 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5B6B7B"/>
                </a:solidFill>
                <a:latin typeface="Calibri"/>
              </a:rPr>
              <a:t>Warmest hours run 92% above the coldest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6751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IN" sz="1100" b="0" dirty="0">
                <a:solidFill>
                  <a:srgbClr val="5B6B7B"/>
                </a:solidFill>
                <a:latin typeface="Calibri"/>
              </a:rPr>
              <a:t>13</a:t>
            </a:r>
            <a:endParaRPr sz="1100" b="0" dirty="0">
              <a:solidFill>
                <a:srgbClr val="5B6B7B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4114800" cy="126492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182880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A8794"/>
                </a:solidFill>
                <a:latin typeface="Calibri"/>
              </a:rPr>
              <a:t>+92%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783080"/>
            <a:ext cx="169164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warmest vs coldest hours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22320"/>
            <a:ext cx="4114800" cy="126492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" y="3322320"/>
            <a:ext cx="182880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A8794"/>
                </a:solidFill>
                <a:latin typeface="Calibri"/>
              </a:rPr>
              <a:t>r = 0.23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322320"/>
            <a:ext cx="169164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temperature vs total demand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61560"/>
            <a:ext cx="4114800" cy="126492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4861560"/>
            <a:ext cx="182880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B86E00"/>
                </a:solidFill>
                <a:latin typeface="Calibri"/>
              </a:rPr>
              <a:t>r = 0.47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861560"/>
            <a:ext cx="169164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temperature vs casual demand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4937760" y="1691640"/>
          <a:ext cx="6702552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2263F"/>
                </a:solidFill>
                <a:latin typeface="Calibri"/>
              </a:rPr>
              <a:t>Mist Cuts Demand by 46%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5B6B7B"/>
                </a:solidFill>
                <a:latin typeface="Calibri"/>
              </a:rPr>
              <a:t>Sunny hours lead; mist hours lose nearly half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6751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IN" sz="1100" b="0" dirty="0">
                <a:solidFill>
                  <a:srgbClr val="5B6B7B"/>
                </a:solidFill>
                <a:latin typeface="Calibri"/>
              </a:rPr>
              <a:t>14</a:t>
            </a:r>
            <a:endParaRPr sz="1100" b="0" dirty="0">
              <a:solidFill>
                <a:srgbClr val="5B6B7B"/>
              </a:solidFill>
              <a:latin typeface="Calibri"/>
            </a:endParaRP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91640"/>
          <a:ext cx="667512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1783080"/>
            <a:ext cx="4050791" cy="126492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0" y="1783080"/>
            <a:ext cx="173736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B86E00"/>
                </a:solidFill>
                <a:latin typeface="Calibri"/>
              </a:rPr>
              <a:t>−46%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783080"/>
            <a:ext cx="1719072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mist vs sunny, rides per hour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3322320"/>
            <a:ext cx="4050791" cy="126492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63840" y="3322320"/>
            <a:ext cx="173736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A8794"/>
                </a:solidFill>
                <a:latin typeface="Calibri"/>
              </a:rPr>
              <a:t>91.5%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3322320"/>
            <a:ext cx="1719072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of hours are sunny or few clouds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4861560"/>
            <a:ext cx="4050791" cy="126492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0" y="4861560"/>
            <a:ext cx="173736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A8794"/>
                </a:solidFill>
                <a:latin typeface="Calibri"/>
              </a:rPr>
              <a:t>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4861560"/>
            <a:ext cx="1719072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mist hours in the dataset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2263F"/>
                </a:solidFill>
                <a:latin typeface="Calibri"/>
              </a:rPr>
              <a:t>Which Driver Matters Most?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5B6B7B"/>
                </a:solidFill>
                <a:latin typeface="Calibri"/>
              </a:rPr>
              <a:t>Heat lifts casual demand; humidity suppresses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6751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IN" sz="1100" b="0" dirty="0">
                <a:solidFill>
                  <a:srgbClr val="5B6B7B"/>
                </a:solidFill>
                <a:latin typeface="Calibri"/>
              </a:rPr>
              <a:t>15</a:t>
            </a:r>
            <a:endParaRPr sz="1100" b="0" dirty="0">
              <a:solidFill>
                <a:srgbClr val="5B6B7B"/>
              </a:solidFill>
              <a:latin typeface="Calibri"/>
            </a:endParaRP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91640"/>
          <a:ext cx="667512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1783080"/>
            <a:ext cx="4050791" cy="203454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0" y="1783080"/>
            <a:ext cx="1828800" cy="20345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B86E00"/>
                </a:solidFill>
                <a:latin typeface="Calibri"/>
              </a:rPr>
              <a:t>−48%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1783080"/>
            <a:ext cx="1627631" cy="20345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humid vs dry hours (43 vs 83 rides/hr)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4091939"/>
            <a:ext cx="4050791" cy="203454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63840" y="4091939"/>
            <a:ext cx="1828800" cy="20345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A8794"/>
                </a:solidFill>
                <a:latin typeface="Calibri"/>
              </a:rPr>
              <a:t>r = -0.26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4091939"/>
            <a:ext cx="1627631" cy="20345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humidity vs casual riders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2263F"/>
                </a:solidFill>
                <a:latin typeface="Calibri"/>
              </a:rPr>
              <a:t>The Weekend Sweet Spot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5B6B7B"/>
                </a:solidFill>
                <a:latin typeface="Calibri"/>
              </a:rPr>
              <a:t>Warm, dry weekend afternoons triple casual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16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91640"/>
          <a:ext cx="667512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1783080"/>
            <a:ext cx="4050791" cy="126492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0" y="1783080"/>
            <a:ext cx="173736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B86E00"/>
                </a:solidFill>
                <a:latin typeface="Calibri"/>
              </a:rPr>
              <a:t>3.1×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783080"/>
            <a:ext cx="1719072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casual rides/hr, warm and dry vs cool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3322320"/>
            <a:ext cx="4050791" cy="126492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63840" y="3322320"/>
            <a:ext cx="173736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A8794"/>
                </a:solidFill>
                <a:latin typeface="Calibri"/>
              </a:rPr>
              <a:t>+44%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3322320"/>
            <a:ext cx="1719072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all riders, warm vs cool hours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4861560"/>
            <a:ext cx="4050791" cy="126492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0" y="4861560"/>
            <a:ext cx="1737360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A8794"/>
                </a:solidFill>
                <a:latin typeface="Calibri"/>
              </a:rPr>
              <a:t>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4861560"/>
            <a:ext cx="1719072" cy="1264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hours behind this view: directional, not definitive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2263F"/>
                </a:solidFill>
                <a:latin typeface="Calibri"/>
              </a:rPr>
              <a:t>What It Means for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5B6B7B"/>
                </a:solidFill>
                <a:latin typeface="Calibri"/>
              </a:rPr>
              <a:t>Plan for commuters, flex for leisure and weather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66751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IN" sz="1100" dirty="0">
                <a:solidFill>
                  <a:srgbClr val="5B6B7B"/>
                </a:solidFill>
                <a:latin typeface="Calibri"/>
              </a:rPr>
              <a:t>17</a:t>
            </a:r>
            <a:endParaRPr sz="1100" b="0" dirty="0">
              <a:solidFill>
                <a:srgbClr val="5B6B7B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0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783080"/>
            <a:ext cx="338328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2263F"/>
                </a:solidFill>
                <a:latin typeface="Calibri"/>
              </a:rPr>
              <a:t>Run a commute-first fleet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1783080"/>
            <a:ext cx="603504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B2A3A"/>
                </a:solidFill>
                <a:latin typeface="Calibri"/>
              </a:rPr>
              <a:t>91.6% of rides are registered; 60% of weekday rides fall in 7 hours. Dock availability at 7–9 AM and 4–8 PM is the KPI.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39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2960" y="3611879"/>
            <a:ext cx="640080" cy="640080"/>
          </a:xfrm>
          <a:prstGeom prst="ellipse">
            <a:avLst/>
          </a:prstGeom>
          <a:solidFill>
            <a:srgbClr val="0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3611879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291839"/>
            <a:ext cx="338328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2263F"/>
                </a:solidFill>
                <a:latin typeface="Calibri"/>
              </a:rPr>
              <a:t>Treat leisure as a second market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291839"/>
            <a:ext cx="603504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B2A3A"/>
                </a:solidFill>
                <a:latin typeface="Calibri"/>
              </a:rPr>
              <a:t>Casual share triples on weekends (17.0%) and peaks midday. Warm, dry afternoons are the upside.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006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rgbClr val="0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1206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4800600"/>
            <a:ext cx="338328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2263F"/>
                </a:solidFill>
                <a:latin typeface="Calibri"/>
              </a:rPr>
              <a:t>Use weather as a planning lever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800600"/>
            <a:ext cx="603504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B2A3A"/>
                </a:solidFill>
                <a:latin typeface="Calibri"/>
              </a:rPr>
              <a:t>Mist cuts rides 46%; humid hours cut 48%. Forecast-driven rebalancing beats fixed schedules.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2263F"/>
                </a:solidFill>
                <a:latin typeface="Calibri"/>
              </a:rPr>
              <a:t>Four Moves to Make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5B6B7B"/>
                </a:solidFill>
                <a:latin typeface="Calibri"/>
              </a:rPr>
              <a:t>Each action ties to a measurable KPI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5458" y="6400800"/>
            <a:ext cx="66751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IN" sz="1100" dirty="0">
                <a:solidFill>
                  <a:srgbClr val="5B6B7B"/>
                </a:solidFill>
                <a:latin typeface="Calibri"/>
              </a:rPr>
              <a:t>18</a:t>
            </a:r>
            <a:endParaRPr sz="1100" b="0" dirty="0">
              <a:solidFill>
                <a:srgbClr val="5B6B7B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410047" cy="178308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22959" y="2057400"/>
            <a:ext cx="548640" cy="548640"/>
          </a:xfrm>
          <a:prstGeom prst="ellipse">
            <a:avLst/>
          </a:prstGeom>
          <a:solidFill>
            <a:srgbClr val="0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59" y="2057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057400"/>
            <a:ext cx="408416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2263F"/>
                </a:solidFill>
                <a:latin typeface="Calibri"/>
              </a:rPr>
              <a:t>Pre-position bikes before peaks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697480"/>
            <a:ext cx="4084167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Rebalance by 7 AM and 4 PM. KPI: dock availability in peak windows.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783080"/>
            <a:ext cx="5410047" cy="178308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507327" y="2057400"/>
            <a:ext cx="548640" cy="548640"/>
          </a:xfrm>
          <a:prstGeom prst="ellipse">
            <a:avLst/>
          </a:prstGeom>
          <a:solidFill>
            <a:srgbClr val="0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07327" y="2057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2057400"/>
            <a:ext cx="408416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2263F"/>
                </a:solidFill>
                <a:latin typeface="Calibri"/>
              </a:rPr>
              <a:t>Use 12–4 AM for maintenance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2697480"/>
            <a:ext cx="4084167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Only 2.8% of rides. Schedule repairs and rebalancing here.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94760"/>
            <a:ext cx="5410047" cy="178308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2959" y="4069080"/>
            <a:ext cx="548640" cy="548640"/>
          </a:xfrm>
          <a:prstGeom prst="ellipse">
            <a:avLst/>
          </a:prstGeom>
          <a:solidFill>
            <a:srgbClr val="0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59" y="40690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069080"/>
            <a:ext cx="408416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2263F"/>
                </a:solidFill>
                <a:latin typeface="Calibri"/>
              </a:rPr>
              <a:t>Target weekend casual riders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709160"/>
            <a:ext cx="4084167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Midday offers, 12–4 PM. KPI: casual-to-member conversion.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3794760"/>
            <a:ext cx="5410047" cy="1783080"/>
          </a:xfrm>
          <a:prstGeom prst="roundRect">
            <a:avLst>
              <a:gd name="adj" fmla="val 6000"/>
            </a:avLst>
          </a:prstGeom>
          <a:solidFill>
            <a:srgbClr val="EF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507327" y="4069080"/>
            <a:ext cx="548640" cy="548640"/>
          </a:xfrm>
          <a:prstGeom prst="ellipse">
            <a:avLst/>
          </a:prstGeom>
          <a:solidFill>
            <a:srgbClr val="0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07327" y="40690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84567" y="4069080"/>
            <a:ext cx="408416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2263F"/>
                </a:solidFill>
                <a:latin typeface="Calibri"/>
              </a:rPr>
              <a:t>Trigger weather-based rebalancing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4567" y="4709160"/>
            <a:ext cx="4084167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Flex the fleet on mist and humid forecasts. KPI: rides per bike on humid days.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6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BFE6EA"/>
                </a:solidFill>
                <a:latin typeface="Calibri"/>
              </a:rPr>
              <a:t>Discussion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F2A541"/>
                </a:solidFill>
                <a:latin typeface="Calibri"/>
              </a:rPr>
              <a:t>58,304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34747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IN" dirty="0">
                <a:solidFill>
                  <a:srgbClr val="FFFFFF"/>
                </a:solidFill>
                <a:latin typeface="Calibri"/>
              </a:rPr>
              <a:t>R</a:t>
            </a:r>
            <a:r>
              <a:rPr sz="1800" b="0" dirty="0">
                <a:solidFill>
                  <a:srgbClr val="FFFFFF"/>
                </a:solidFill>
                <a:latin typeface="Calibri"/>
              </a:rPr>
              <a:t>ides </a:t>
            </a:r>
            <a:r>
              <a:rPr sz="1800" b="0" dirty="0" err="1">
                <a:solidFill>
                  <a:srgbClr val="FFFFFF"/>
                </a:solidFill>
                <a:latin typeface="Calibri"/>
              </a:rPr>
              <a:t>analysed</a:t>
            </a:r>
            <a:endParaRPr sz="18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480559" y="420624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F2A541"/>
                </a:solidFill>
                <a:latin typeface="Calibri"/>
              </a:rPr>
              <a:t>91.6%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59" y="5029200"/>
            <a:ext cx="34747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IN" dirty="0">
                <a:solidFill>
                  <a:srgbClr val="FFFFFF"/>
                </a:solidFill>
                <a:latin typeface="Calibri"/>
              </a:rPr>
              <a:t>R</a:t>
            </a:r>
            <a:r>
              <a:rPr sz="1800" b="0" dirty="0" err="1">
                <a:solidFill>
                  <a:srgbClr val="FFFFFF"/>
                </a:solidFill>
                <a:latin typeface="Calibri"/>
              </a:rPr>
              <a:t>egistered</a:t>
            </a:r>
            <a:r>
              <a:rPr sz="1800" b="0" dirty="0">
                <a:solidFill>
                  <a:srgbClr val="FFFFFF"/>
                </a:solidFill>
                <a:latin typeface="Calibri"/>
              </a:rPr>
              <a:t> riders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20624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F2A541"/>
                </a:solidFill>
                <a:latin typeface="Calibri"/>
              </a:rPr>
              <a:t>4.3×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5029200"/>
            <a:ext cx="34747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IN" dirty="0">
                <a:solidFill>
                  <a:srgbClr val="FFFFFF"/>
                </a:solidFill>
                <a:latin typeface="Calibri"/>
              </a:rPr>
              <a:t>P</a:t>
            </a:r>
            <a:r>
              <a:rPr sz="1800" b="0" dirty="0" err="1">
                <a:solidFill>
                  <a:srgbClr val="FFFFFF"/>
                </a:solidFill>
                <a:latin typeface="Calibri"/>
              </a:rPr>
              <a:t>eak</a:t>
            </a:r>
            <a:r>
              <a:rPr sz="1800" b="0" dirty="0">
                <a:solidFill>
                  <a:srgbClr val="FFFFFF"/>
                </a:solidFill>
                <a:latin typeface="Calibri"/>
              </a:rPr>
              <a:t> vs </a:t>
            </a:r>
            <a:r>
              <a:rPr lang="en-IN" sz="1800" b="0" dirty="0">
                <a:solidFill>
                  <a:srgbClr val="FFFFFF"/>
                </a:solidFill>
                <a:latin typeface="Calibri"/>
              </a:rPr>
              <a:t>A</a:t>
            </a:r>
            <a:r>
              <a:rPr sz="1800" b="0" dirty="0" err="1">
                <a:solidFill>
                  <a:srgbClr val="FFFFFF"/>
                </a:solidFill>
                <a:latin typeface="Calibri"/>
              </a:rPr>
              <a:t>verage</a:t>
            </a:r>
            <a:r>
              <a:rPr sz="1800" b="0" dirty="0">
                <a:solidFill>
                  <a:srgbClr val="FFFFFF"/>
                </a:solidFill>
                <a:latin typeface="Calibri"/>
              </a:rPr>
              <a:t> hour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935</Words>
  <Application>Microsoft Office PowerPoint</Application>
  <PresentationFormat>Widescreen</PresentationFormat>
  <Paragraphs>241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Dhruv Rawat</dc:creator>
  <cp:keywords/>
  <dc:description>generated using python-pptx</dc:description>
  <cp:lastModifiedBy>Dhruv Rawat</cp:lastModifiedBy>
  <cp:revision>4</cp:revision>
  <dcterms:created xsi:type="dcterms:W3CDTF">2013-01-27T09:14:16Z</dcterms:created>
  <dcterms:modified xsi:type="dcterms:W3CDTF">2026-10-09T05:11:00Z</dcterms:modified>
  <cp:category/>
</cp:coreProperties>
</file>